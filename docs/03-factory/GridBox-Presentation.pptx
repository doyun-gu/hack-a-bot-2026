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GridBox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94560"/>
                </a:solidFill>
                <a:latin typeface="Calibri"/>
              </a:defRPr>
            </a:pPr>
            <a:r>
              <a:t>Smart Infrastructure Control for £15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"What if a £15 microcontroller could replace a £162,000 industrial system?"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ARM + EEESoc  |  Hack-A-Bot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Doyun Gu  ·  Wooseong  ·  Billy</a:t>
            </a:r>
          </a:p>
        </p:txBody>
      </p:sp>
      <p:pic>
        <p:nvPicPr>
          <p:cNvPr id="7" name="Picture 6" descr="TAB_all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74320"/>
            <a:ext cx="2011680" cy="8520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9456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228600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30%</a:t>
            </a:r>
            <a:br/>
            <a:r>
              <a:t>of factory energy</a:t>
            </a:r>
            <a:br/>
            <a:r>
              <a:t>is wasted</a:t>
            </a:r>
            <a:br/>
            <a:br/>
            <a:r>
              <a:t>Motors run at full speed</a:t>
            </a:r>
            <a:br/>
            <a:r>
              <a:t>when partial load is enough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291840" cy="2286000"/>
          </a:xfrm>
          <a:prstGeom prst="round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£180B/year</a:t>
            </a:r>
            <a:br/>
            <a:r>
              <a:t>lost to undetected</a:t>
            </a:r>
            <a:br/>
            <a:r>
              <a:t>equipment faults</a:t>
            </a:r>
            <a:br/>
            <a:br/>
            <a:r>
              <a:t>4+ hours average</a:t>
            </a:r>
            <a:br/>
            <a:r>
              <a:t>downtime per fault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9184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£162,000+</a:t>
            </a:r>
            <a:br/>
            <a:r>
              <a:t>cost of industrial</a:t>
            </a:r>
            <a:br/>
            <a:r>
              <a:t>SCADA system</a:t>
            </a:r>
            <a:br/>
            <a:br/>
            <a:r>
              <a:t>80% of small factories</a:t>
            </a:r>
            <a:br/>
            <a:r>
              <a:t>priced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Small and medium factories can't afford Industry 4.0.</a:t>
            </a:r>
            <a:br/>
            <a:r>
              <a:t>They run blind — no monitoring, no fault detection, no optimisation.</a:t>
            </a:r>
            <a:br/>
            <a:r>
              <a:t>When equipment fails, they find out the hard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6A4F"/>
                </a:solidFill>
                <a:latin typeface="Calibri"/>
              </a:defRPr>
            </a:pPr>
            <a:r>
              <a:t>Our Solution — GridBox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1371600"/>
          </a:xfrm>
          <a:prstGeom prst="round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PICO A — Master</a:t>
            </a:r>
            <a:br/>
            <a:r>
              <a:t>Grid Controller</a:t>
            </a:r>
            <a:br/>
            <a:br/>
            <a:r>
              <a:t>IMU · PCA9685 · ADC</a:t>
            </a:r>
            <a:br/>
            <a:r>
              <a:t>Motor driver · Recycle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2560320" cy="100584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nRF24L01+ Wireless</a:t>
            </a:r>
            <a:br/>
            <a:r>
              <a:t>2.4GHz · 250kbps</a:t>
            </a:r>
            <a:br/>
            <a:r>
              <a:t>32-byte datagrams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645920"/>
            <a:ext cx="347472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PICO B — Slave</a:t>
            </a:r>
            <a:br/>
            <a:r>
              <a:t>SCADA Station</a:t>
            </a:r>
            <a:br/>
            <a:br/>
            <a:r>
              <a:t>OLED · MAX7219 · nRF</a:t>
            </a:r>
            <a:br/>
            <a:r>
              <a:t>Wireless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Closed-Loop Control (every 10ms):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6B35"/>
                </a:solidFill>
                <a:latin typeface="Calibri"/>
              </a:defRPr>
            </a:pPr>
            <a:r>
              <a:t>SENSE (ADC)  →  CALCULATE (KCL/KVL)  →  DECIDE (firmware)  →  ROUTE (GPIO)  →  VERIFY (ADC)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Demo: Smart Water Bottling Plant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548640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15675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5334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5334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Happens</a:t>
                      </a:r>
                    </a:p>
                  </a:txBody>
                  <a:tcPr>
                    <a:solidFill>
                      <a:srgbClr val="533483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Pump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DC Motor 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Fills bottles at PWM-controlled speed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Fill Valve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Servo 1 (PCA9685)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Opens/closes water flow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Conveyor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DC Motor 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Moves bottles along the line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Sort Gate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Servo 2 (PCA9685)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Directs good/reject bottles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15675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Fault Detect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BMI160 IMU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Vibration monitoring (ISO 10816)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15675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Energy Recycle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2N2222 + Cap + LED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Captures and reuses wasted energy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6B35"/>
                </a:solidFill>
                <a:latin typeface="Calibri"/>
              </a:defRPr>
            </a:pPr>
            <a:r>
              <a:t>Technical Innovation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029200" cy="1645920"/>
          </a:xfrm>
          <a:prstGeom prst="round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The Pico IS the Power Grid</a:t>
            </a:r>
            <a:br/>
            <a:br/>
            <a:r>
              <a:t>ADC pins = power sensors</a:t>
            </a:r>
            <a:br/>
            <a:r>
              <a:t>GPIO pins = electronic switches</a:t>
            </a:r>
            <a:br/>
            <a:r>
              <a:t>Firmware = brain that decides</a:t>
            </a:r>
            <a:br/>
            <a:r>
              <a:t>Closed loop = autonomous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029200" cy="1645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EEE Theory Applied</a:t>
            </a:r>
            <a:br/>
            <a:br/>
            <a:r>
              <a:t>Affinity Laws: P ∝ n³</a:t>
            </a:r>
            <a:br/>
            <a:r>
              <a:t>KCL/KVL energy balance</a:t>
            </a:r>
            <a:br/>
            <a:r>
              <a:t>ISO 10816 vibration classification</a:t>
            </a:r>
            <a:br/>
            <a:r>
              <a:t>Current sensing: I = V/R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291840" cy="201168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IMU Fault Detection</a:t>
            </a:r>
            <a:br/>
            <a:br/>
            <a:r>
              <a:t>£2 BMI160 replaces</a:t>
            </a:r>
            <a:br/>
            <a:r>
              <a:t>£18,000 equipment</a:t>
            </a:r>
            <a:br/>
            <a:br/>
            <a:r>
              <a:t>Detects: bearing wear,</a:t>
            </a:r>
            <a:br/>
            <a:r>
              <a:t>cavitation, jams, leaks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657600"/>
            <a:ext cx="3291840" cy="20116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Energy Recycling</a:t>
            </a:r>
            <a:br/>
            <a:br/>
            <a:r>
              <a:t>GPIO routes excess</a:t>
            </a:r>
            <a:br/>
            <a:r>
              <a:t>power to storage</a:t>
            </a:r>
            <a:br/>
            <a:br/>
            <a:r>
              <a:t>LED proves concept:</a:t>
            </a:r>
            <a:br/>
            <a:r>
              <a:t>charge → glow → fade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657600"/>
            <a:ext cx="3291840" cy="2011680"/>
          </a:xfrm>
          <a:prstGeom prst="round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Wireless SCADA</a:t>
            </a:r>
            <a:br/>
            <a:br/>
            <a:r>
              <a:t>6-type datagram protocol</a:t>
            </a:r>
            <a:br/>
            <a:r>
              <a:t>200+ packets, 0 errors</a:t>
            </a:r>
            <a:br/>
            <a:br/>
            <a:r>
              <a:t>Bidirectional:</a:t>
            </a:r>
            <a:br/>
            <a:r>
              <a:t>commands +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Calibri"/>
              </a:defRPr>
            </a:pPr>
            <a:r>
              <a:t>Key insight: 20% speed reduction = 49% power saving (Affinity Laws: P ∝ n³)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6A4F"/>
                </a:solidFill>
                <a:latin typeface="Calibri"/>
              </a:defRPr>
            </a:pPr>
            <a:r>
              <a:t>What We Built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2857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Significance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£15 total BOM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10,800x cheaper than industrial SCADA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Wireless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200+ packets, 0 errors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 datagram types, bidirectional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Wiring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77% complete (48/66 wires)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10/13 tasks done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Firmware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 MicroPython modules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 master + 12 slave + C SDK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35+ test scripts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Every component verified individually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35+ documents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design doc, wiring tables, diagrams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Commits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210+ commits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3-person team, 24-hour hackathon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Hardware Verified: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nRF24L01+ wireless (both Picos) — SPI status 0x0E, channel read/write OK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Two-Pico wireless link — standalone master + USB slave, datagram protocol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MAX7219 7-segment display — all digits, brightness, flash animations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BMI160 IMU — I2C connected, chip ID verified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Motor driver — connected and wired via PCA9685 PWM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Recycle path — 2N2222 + capacitor + LED discharge indicator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6217920"/>
            <a:ext cx="5486400" cy="45720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£15  vs  £162,000  —  Same job, 10,800x cheaper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GridBox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94560"/>
                </a:solidFill>
                <a:latin typeface="Calibri"/>
              </a:defRPr>
            </a:pPr>
            <a:r>
              <a:t>Smart Infrastructure Control for £15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Thank you — we're happy to take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Doyun Gu  ·  Wooseong  ·  Billy  |  University of Manchester</a:t>
            </a:r>
          </a:p>
        </p:txBody>
      </p:sp>
      <p:pic>
        <p:nvPicPr>
          <p:cNvPr id="6" name="Picture 5" descr="TAB_all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5943600"/>
            <a:ext cx="2011680" cy="8520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